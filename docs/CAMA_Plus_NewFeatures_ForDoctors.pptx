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371600"/>
            <a:ext cx="4572000" cy="4572000"/>
          </a:xfrm>
          <a:prstGeom prst="ellipse">
            <a:avLst/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3840480"/>
            <a:ext cx="3657600" cy="3657600"/>
          </a:xfrm>
          <a:prstGeom prst="ellipse">
            <a:avLst/>
          </a:prstGeom>
          <a:solidFill>
            <a:srgbClr val="F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463040"/>
            <a:ext cx="9966960" cy="4023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63040" y="1828800"/>
            <a:ext cx="2743200" cy="365760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8745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D7A6F"/>
                </a:solidFill>
                <a:latin typeface="맑은 고딕"/>
                <a:ea typeface="맑은 고딕"/>
              </a:rPr>
              <a:t>의사 선생님께 드리는 안내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F6B72"/>
                </a:solidFill>
                <a:latin typeface="맑은 고딕"/>
                <a:ea typeface="맑은 고딕"/>
              </a:rPr>
              <a:t>진료가 조금 더 편해지도록,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8803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C353A"/>
                </a:solidFill>
                <a:latin typeface="맑은 고딕"/>
                <a:ea typeface="맑은 고딕"/>
              </a:rPr>
              <a:t>CAMA Plus에 새로 생긴 기능들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023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72"/>
                </a:solidFill>
                <a:latin typeface="맑은 고딕"/>
                <a:ea typeface="맑은 고딕"/>
              </a:rPr>
              <a:t>환자가 미리 준비하고 · 의사가 진료 전에 바로 볼 수 있게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D7A6F"/>
                </a:solidFill>
                <a:latin typeface="맑은 고딕"/>
                <a:ea typeface="맑은 고딕"/>
              </a:rPr>
              <a:t>로그인 · 걸음·심박 · 문의(말로 작성) · 태블릿 연동 · 환자 관리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011680" cy="347472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D7A6F"/>
                </a:solidFill>
                <a:latin typeface="맑은 고딕"/>
                <a:ea typeface="맑은 고딕"/>
              </a:rPr>
              <a:t>CAMA 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C353A"/>
                </a:solidFill>
                <a:latin typeface="맑은 고딕"/>
                <a:ea typeface="맑은 고딕"/>
              </a:rPr>
              <a:t>오늘 함께 보실 다섯 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72"/>
                </a:solidFill>
                <a:latin typeface="맑은 고딕"/>
                <a:ea typeface="맑은 고딕"/>
              </a:rPr>
              <a:t>기술 용어보다는, 진료 현장에서 어떻게 쓰이는지에 맞춰 정리했습니다.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111556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130552"/>
            <a:ext cx="640080" cy="384048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671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D7A6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756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C353A"/>
                </a:solidFill>
                <a:latin typeface="맑은 고딕"/>
                <a:ea typeface="맑은 고딕"/>
              </a:rPr>
              <a:t>로그인·계정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5000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환자가 스스로 가입하고, 비밀번호를 찾고 바꿀 수 있어요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88920"/>
            <a:ext cx="111556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2953512"/>
            <a:ext cx="640080" cy="384048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90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D7A6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8986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C353A"/>
                </a:solidFill>
                <a:latin typeface="맑은 고딕"/>
                <a:ea typeface="맑은 고딕"/>
              </a:rPr>
              <a:t>생체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17296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걸음수 등이 앱 사용 중에 자연스럽게 쌓여요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11880"/>
            <a:ext cx="111556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776472"/>
            <a:ext cx="640080" cy="384048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1304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D7A6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7216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C353A"/>
                </a:solidFill>
                <a:latin typeface="맑은 고딕"/>
                <a:ea typeface="맑은 고딕"/>
              </a:rPr>
              <a:t>의사 문의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99592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키보드로도, 말로도 진료 전 질문을 남길 수 있어요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34840"/>
            <a:ext cx="111556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599432"/>
            <a:ext cx="640080" cy="384048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63600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D7A6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5445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C353A"/>
                </a:solidFill>
                <a:latin typeface="맑은 고딕"/>
                <a:ea typeface="맑은 고딕"/>
              </a:rPr>
              <a:t>태블릿 연동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1888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환자 폰 → 의사 태블릿으로 바로 전달됩니다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257800"/>
            <a:ext cx="111556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" y="5422392"/>
            <a:ext cx="640080" cy="384048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4589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D7A6F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367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C353A"/>
                </a:solidFill>
                <a:latin typeface="맑은 고딕"/>
                <a:ea typeface="맑은 고딕"/>
              </a:rPr>
              <a:t>환자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64184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병원·관리 화면에서 환자·서비스를 살펴볼 수 있어요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CAMA Plus · 의사 선생님을 위한 안내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1/20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011680" cy="347472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D7A6F"/>
                </a:solidFill>
                <a:latin typeface="맑은 고딕"/>
                <a:ea typeface="맑은 고딕"/>
              </a:rPr>
              <a:t>CAMA 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C353A"/>
                </a:solidFill>
                <a:latin typeface="맑은 고딕"/>
                <a:ea typeface="맑은 고딕"/>
              </a:rPr>
              <a:t>한 명의 환자, 한 번의 진료로 보는 이야기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72"/>
                </a:solidFill>
                <a:latin typeface="맑은 고딕"/>
                <a:ea typeface="맑은 고딕"/>
              </a:rPr>
              <a:t>기능 나열이 아니라, 진료 전까지의 흐름으로 따라가 볼게요.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286000"/>
            <a:ext cx="2148840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2514600"/>
            <a:ext cx="777240" cy="777240"/>
          </a:xfrm>
          <a:prstGeom prst="ellipse">
            <a:avLst/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9748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D7A6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C353A"/>
                </a:solidFill>
                <a:latin typeface="맑은 고딕"/>
                <a:ea typeface="맑은 고딕"/>
              </a:rPr>
              <a:t>가입·로그인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F6B72"/>
                </a:solidFill>
                <a:latin typeface="맑은 고딕"/>
                <a:ea typeface="맑은 고딕"/>
              </a:rPr>
              <a:t>계정을 만들고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F6B72"/>
                </a:solidFill>
                <a:latin typeface="맑은 고딕"/>
                <a:ea typeface="맑은 고딕"/>
              </a:rPr>
              <a:t>들어옵니다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383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E76F5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286000"/>
            <a:ext cx="2148840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29000" y="2514600"/>
            <a:ext cx="777240" cy="777240"/>
          </a:xfrm>
          <a:prstGeom prst="ellipse">
            <a:avLst/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69748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D7A6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47472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C353A"/>
                </a:solidFill>
                <a:latin typeface="맑은 고딕"/>
                <a:ea typeface="맑은 고딕"/>
              </a:rPr>
              <a:t>걸음이 쌓임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402336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F6B72"/>
                </a:solidFill>
                <a:latin typeface="맑은 고딕"/>
                <a:ea typeface="맑은 고딕"/>
              </a:rPr>
              <a:t>앱을 쓰는 동안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F6B72"/>
                </a:solidFill>
                <a:latin typeface="맑은 고딕"/>
                <a:ea typeface="맑은 고딕"/>
              </a:rPr>
              <a:t>활동량이 저장됩니다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383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E76F5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2286000"/>
            <a:ext cx="2148840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0720" y="2514600"/>
            <a:ext cx="777240" cy="777240"/>
          </a:xfrm>
          <a:prstGeom prst="ellipse">
            <a:avLst/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269748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D7A6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47472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C353A"/>
                </a:solidFill>
                <a:latin typeface="맑은 고딕"/>
                <a:ea typeface="맑은 고딕"/>
              </a:rPr>
              <a:t>문의 작성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02336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F6B72"/>
                </a:solidFill>
                <a:latin typeface="맑은 고딕"/>
                <a:ea typeface="맑은 고딕"/>
              </a:rPr>
              <a:t>말로도 질문을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F6B72"/>
                </a:solidFill>
                <a:latin typeface="맑은 고딕"/>
                <a:ea typeface="맑은 고딕"/>
              </a:rPr>
              <a:t>미리 남깁니다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383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E76F5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39" y="2286000"/>
            <a:ext cx="2148840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92439" y="2514600"/>
            <a:ext cx="777240" cy="777240"/>
          </a:xfrm>
          <a:prstGeom prst="ellipse">
            <a:avLst/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39" y="269748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D7A6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799" y="347472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C353A"/>
                </a:solidFill>
                <a:latin typeface="맑은 고딕"/>
                <a:ea typeface="맑은 고딕"/>
              </a:rPr>
              <a:t>자료 전송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799" y="402336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F6B72"/>
                </a:solidFill>
                <a:latin typeface="맑은 고딕"/>
                <a:ea typeface="맑은 고딕"/>
              </a:rPr>
              <a:t>QR로 태블릿에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F6B72"/>
                </a:solidFill>
                <a:latin typeface="맑은 고딕"/>
                <a:ea typeface="맑은 고딕"/>
              </a:rPr>
              <a:t>가볍게 보냅니다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19" y="3383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E76F5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38360" y="2286000"/>
            <a:ext cx="2148840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424160" y="2514600"/>
            <a:ext cx="777240" cy="777240"/>
          </a:xfrm>
          <a:prstGeom prst="ellipse">
            <a:avLst/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24160" y="269748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D7A6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347472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C353A"/>
                </a:solidFill>
                <a:latin typeface="맑은 고딕"/>
                <a:ea typeface="맑은 고딕"/>
              </a:rPr>
              <a:t>의사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402336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F6B72"/>
                </a:solidFill>
                <a:latin typeface="맑은 고딕"/>
                <a:ea typeface="맑은 고딕"/>
              </a:rPr>
              <a:t>건강·문의를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F6B72"/>
                </a:solidFill>
                <a:latin typeface="맑은 고딕"/>
                <a:ea typeface="맑은 고딕"/>
              </a:rPr>
              <a:t>한눈에 봅니다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CAMA Plus · 의사 선생님을 위한 안내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2/20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011680" cy="347472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D7A6F"/>
                </a:solidFill>
                <a:latin typeface="맑은 고딕"/>
                <a:ea typeface="맑은 고딕"/>
              </a:rPr>
              <a:t>CAMA 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C353A"/>
                </a:solidFill>
                <a:latin typeface="맑은 고딕"/>
                <a:ea typeface="맑은 고딕"/>
              </a:rPr>
              <a:t>무엇이 달라졌을까요?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72"/>
                </a:solidFill>
                <a:latin typeface="맑은 고딕"/>
                <a:ea typeface="맑은 고딕"/>
              </a:rPr>
              <a:t>이전과 지금을 가볍게 비교해 보았습니다.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11155680" cy="50292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영역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057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이전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057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지금은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60320"/>
            <a:ext cx="1115568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249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D7A6F"/>
                </a:solidFill>
                <a:latin typeface="맑은 고딕"/>
                <a:ea typeface="맑은 고딕"/>
              </a:rPr>
              <a:t>계정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72491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찾기·수정이 번거로웠어요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724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C353A"/>
                </a:solidFill>
                <a:latin typeface="맑은 고딕"/>
                <a:ea typeface="맑은 고딕"/>
              </a:rPr>
              <a:t>찾기·초기화, 이메일, 내정보·비번 변경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46120"/>
            <a:ext cx="11155680" cy="621792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107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D7A6F"/>
                </a:solidFill>
                <a:latin typeface="맑은 고딕"/>
                <a:ea typeface="맑은 고딕"/>
              </a:rPr>
              <a:t>생체정보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41071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특정 화면에서만 걸음이 저장됐어요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4107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C353A"/>
                </a:solidFill>
                <a:latin typeface="맑은 고딕"/>
                <a:ea typeface="맑은 고딕"/>
              </a:rPr>
              <a:t>앱을 켜면 자연스럽게 동기화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31920"/>
            <a:ext cx="1115568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965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D7A6F"/>
                </a:solidFill>
                <a:latin typeface="맑은 고딕"/>
                <a:ea typeface="맑은 고딕"/>
              </a:rPr>
              <a:t>의사 문의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09651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미리 질문을 남기기 어려웠어요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0965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C353A"/>
                </a:solidFill>
                <a:latin typeface="맑은 고딕"/>
                <a:ea typeface="맑은 고딕"/>
              </a:rPr>
              <a:t>텍스트 + 말로 작성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617720"/>
            <a:ext cx="11155680" cy="621792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823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D7A6F"/>
                </a:solidFill>
                <a:latin typeface="맑은 고딕"/>
                <a:ea typeface="맑은 고딕"/>
              </a:rPr>
              <a:t>진료 현장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78231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자료가 흩어져 있었어요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7823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C353A"/>
                </a:solidFill>
                <a:latin typeface="맑은 고딕"/>
                <a:ea typeface="맑은 고딕"/>
              </a:rPr>
              <a:t>환자 폰 → 의사 태블릿으로 바로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303520"/>
            <a:ext cx="1115568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4681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D7A6F"/>
                </a:solidFill>
                <a:latin typeface="맑은 고딕"/>
                <a:ea typeface="맑은 고딕"/>
              </a:rPr>
              <a:t>환자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546811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운영 화면이 들쭉날쭉했어요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4681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C353A"/>
                </a:solidFill>
                <a:latin typeface="맑은 고딕"/>
                <a:ea typeface="맑은 고딕"/>
              </a:rPr>
              <a:t>모니터링·서비스·APK 등 정비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CAMA Plus · 의사 선생님을 위한 안내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3/20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20040"/>
            <a:ext cx="2011680" cy="347472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D7A6F"/>
                </a:solidFill>
                <a:latin typeface="맑은 고딕"/>
                <a:ea typeface="맑은 고딕"/>
              </a:rPr>
              <a:t>첫 번째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C353A"/>
                </a:solidFill>
                <a:latin typeface="맑은 고딕"/>
                <a:ea typeface="맑은 고딕"/>
              </a:rPr>
              <a:t>01  로그인 · 계정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F6B72"/>
                </a:solidFill>
                <a:latin typeface="맑은 고딕"/>
                <a:ea typeface="맑은 고딕"/>
              </a:rPr>
              <a:t>환자가 계정을 스스로 관리할 수 있게 됐어요.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5F6B72"/>
                </a:solidFill>
                <a:latin typeface="맑은 고딕"/>
                <a:ea typeface="맑은 고딕"/>
              </a:rPr>
              <a:t>선생님께서는 ‘접속이 잘 되나?’만 가볍게 알아두셔도 충분합니다.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CAMA Plus · 의사 선생님을 위한 안내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4/20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011680" cy="347472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D7A6F"/>
                </a:solidFill>
                <a:latin typeface="맑은 고딕"/>
                <a:ea typeface="맑은 고딕"/>
              </a:rPr>
              <a:t>CAMA 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C353A"/>
                </a:solidFill>
                <a:latin typeface="맑은 고딕"/>
                <a:ea typeface="맑은 고딕"/>
              </a:rPr>
              <a:t>계정이 이렇게 편해졌어요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72"/>
                </a:solidFill>
                <a:latin typeface="맑은 고딕"/>
                <a:ea typeface="맑은 고딕"/>
              </a:rPr>
              <a:t>환자가 앱에서 직접 할 수 있는 일들입니다.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36118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109728" cy="17830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C353A"/>
                </a:solidFill>
                <a:latin typeface="맑은 고딕"/>
                <a:ea typeface="맑은 고딕"/>
              </a:rPr>
              <a:t>회원가입 · 로그인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아이디와 비밀번호로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서비스에 들어옵니다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011680"/>
            <a:ext cx="36118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011680"/>
            <a:ext cx="109728" cy="17830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212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C353A"/>
                </a:solidFill>
                <a:latin typeface="맑은 고딕"/>
                <a:ea typeface="맑은 고딕"/>
              </a:rPr>
              <a:t>아이디 찾기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060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이름과 전화번호로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아이디를 확인합니다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2011680"/>
            <a:ext cx="36118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2011680"/>
            <a:ext cx="109728" cy="17830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212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C353A"/>
                </a:solidFill>
                <a:latin typeface="맑은 고딕"/>
                <a:ea typeface="맑은 고딕"/>
              </a:rPr>
              <a:t>비밀번호 초기화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6060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임시 비밀번호를 받고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다시 로그인합니다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023360"/>
            <a:ext cx="36118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023360"/>
            <a:ext cx="109728" cy="178308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24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C353A"/>
                </a:solidFill>
                <a:latin typeface="맑은 고딕"/>
                <a:ea typeface="맑은 고딕"/>
              </a:rPr>
              <a:t>이메일 안내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6177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이메일이 있으면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임시 비번·변경 안내 메일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4023360"/>
            <a:ext cx="36118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4023360"/>
            <a:ext cx="109728" cy="178308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4224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C353A"/>
                </a:solidFill>
                <a:latin typeface="맑은 고딕"/>
                <a:ea typeface="맑은 고딕"/>
              </a:rPr>
              <a:t>내 상세정보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6177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이름·전화·이메일·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성별·생년월일 확인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4023360"/>
            <a:ext cx="36118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80" y="4023360"/>
            <a:ext cx="109728" cy="178308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4224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C353A"/>
                </a:solidFill>
                <a:latin typeface="맑은 고딕"/>
                <a:ea typeface="맑은 고딕"/>
              </a:rPr>
              <a:t>프로필 · 비번 변경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6177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정보 수정과 비밀번호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변경을 같은 화면에서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CAMA Plus · 의사 선생님을 위한 안내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5/20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011680" cy="347472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D7A6F"/>
                </a:solidFill>
                <a:latin typeface="맑은 고딕"/>
                <a:ea typeface="맑은 고딕"/>
              </a:rPr>
              <a:t>CAMA 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C353A"/>
                </a:solidFill>
                <a:latin typeface="맑은 고딕"/>
                <a:ea typeface="맑은 고딕"/>
              </a:rPr>
              <a:t>의사 선생님이 알아두면 좋은 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72"/>
                </a:solidFill>
                <a:latin typeface="맑은 고딕"/>
                <a:ea typeface="맑은 고딕"/>
              </a:rPr>
              <a:t>환자에게 안내하실 때 참고해 주세요.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502920" cy="502920"/>
          </a:xfrm>
          <a:prstGeom prst="roundRect">
            <a:avLst>
              <a:gd name="adj" fmla="val 10000"/>
            </a:avLst>
          </a:prstGeom>
          <a:solidFill>
            <a:srgbClr val="F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E76F51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402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C353A"/>
                </a:solidFill>
                <a:latin typeface="맑은 고딕"/>
                <a:ea typeface="맑은 고딕"/>
              </a:rPr>
              <a:t>비밀번호를 잊었을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06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72"/>
                </a:solidFill>
                <a:latin typeface="맑은 고딕"/>
                <a:ea typeface="맑은 고딕"/>
              </a:rPr>
              <a:t>앱의 ‘계정 찾기’에서 초기화할 수 있어요. 이메일을 등록해 두면 메일로도 안내됩니다.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9184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502920" cy="502920"/>
          </a:xfrm>
          <a:prstGeom prst="roundRect">
            <a:avLst>
              <a:gd name="adj" fmla="val 10000"/>
            </a:avLst>
          </a:prstGeom>
          <a:solidFill>
            <a:srgbClr val="F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E76F51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5204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C353A"/>
                </a:solidFill>
                <a:latin typeface="맑은 고딕"/>
                <a:ea typeface="맑은 고딕"/>
              </a:rPr>
              <a:t>비밀번호를 바꿀 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8862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72"/>
                </a:solidFill>
                <a:latin typeface="맑은 고딕"/>
                <a:ea typeface="맑은 고딕"/>
              </a:rPr>
              <a:t>내 상세정보 → 수정에서 현재 비밀번호를 확인한 뒤 새 비밀번호로 바꿉니다. (일반 웹사이트와 같아요)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5720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892040"/>
            <a:ext cx="502920" cy="502920"/>
          </a:xfrm>
          <a:prstGeom prst="roundRect">
            <a:avLst>
              <a:gd name="adj" fmla="val 10000"/>
            </a:avLst>
          </a:prstGeom>
          <a:solidFill>
            <a:srgbClr val="F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98348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E76F51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8006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C353A"/>
                </a:solidFill>
                <a:latin typeface="맑은 고딕"/>
                <a:ea typeface="맑은 고딕"/>
              </a:rPr>
              <a:t>이메일 등록을 권장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166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72"/>
                </a:solidFill>
                <a:latin typeface="맑은 고딕"/>
                <a:ea typeface="맑은 고딕"/>
              </a:rPr>
              <a:t>초기화·변경 안내를 메일로 받을 수 있어, 진료 중 ‘접속이 안 돼요’ 문의가 줄어들 수 있어요.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CAMA Plus · 의사 선생님을 위한 안내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6/20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3657600"/>
            <a:ext cx="4114800" cy="4114800"/>
          </a:xfrm>
          <a:prstGeom prst="ellipse">
            <a:avLst/>
          </a:prstGeom>
          <a:solidFill>
            <a:srgbClr val="F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20040"/>
            <a:ext cx="2011680" cy="347472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D7A6F"/>
                </a:solidFill>
                <a:latin typeface="맑은 고딕"/>
                <a:ea typeface="맑은 고딕"/>
              </a:rPr>
              <a:t>두 번째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C353A"/>
                </a:solidFill>
                <a:latin typeface="맑은 고딕"/>
                <a:ea typeface="맑은 고딕"/>
              </a:rPr>
              <a:t>02  생체 정보 수집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F6B72"/>
                </a:solidFill>
                <a:latin typeface="맑은 고딕"/>
                <a:ea typeface="맑은 고딕"/>
              </a:rPr>
              <a:t>걸음수가 앱을 쓰는 동안 알아서 쌓입니다.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5F6B72"/>
                </a:solidFill>
                <a:latin typeface="맑은 고딕"/>
                <a:ea typeface="맑은 고딕"/>
              </a:rPr>
              <a:t>심박 등 바이탈도 같은 ‘건강 데이터’ 흐름으로 확장되고 있어요.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CAMA Plus · 의사 선생님을 위한 안내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7/20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011680" cy="347472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D7A6F"/>
                </a:solidFill>
                <a:latin typeface="맑은 고딕"/>
                <a:ea typeface="맑은 고딕"/>
              </a:rPr>
              <a:t>CAMA 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C353A"/>
                </a:solidFill>
                <a:latin typeface="맑은 고딕"/>
                <a:ea typeface="맑은 고딕"/>
              </a:rPr>
              <a:t>걸음수가 알아서 쌓여요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72"/>
                </a:solidFill>
                <a:latin typeface="맑은 고딕"/>
                <a:ea typeface="맑은 고딕"/>
              </a:rPr>
              <a:t>환자가 따로 ‘전송’ 버튼을 누르지 않아도 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274320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로그인 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F6B72"/>
                </a:solidFill>
                <a:latin typeface="맑은 고딕"/>
                <a:ea typeface="맑은 고딕"/>
              </a:rPr>
              <a:t>앱에 들어오면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F6B72"/>
                </a:solidFill>
                <a:latin typeface="맑은 고딕"/>
                <a:ea typeface="맑은 고딕"/>
              </a:rPr>
              <a:t>오늘 걸음을 맞춰 둡니다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194560"/>
            <a:ext cx="274320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80" y="219456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331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앱을 다시 켤 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2004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F6B72"/>
                </a:solidFill>
                <a:latin typeface="맑은 고딕"/>
                <a:ea typeface="맑은 고딕"/>
              </a:rPr>
              <a:t>포그라운드로 돌아오면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F6B72"/>
                </a:solidFill>
                <a:latin typeface="맑은 고딕"/>
                <a:ea typeface="맑은 고딕"/>
              </a:rPr>
              <a:t>다시 한 번 맞춥니다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194560"/>
            <a:ext cx="274320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219456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331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자료 전송 직전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004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F6B72"/>
                </a:solidFill>
                <a:latin typeface="맑은 고딕"/>
                <a:ea typeface="맑은 고딕"/>
              </a:rPr>
              <a:t>의사 태블릿으로 보내기 전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F6B72"/>
                </a:solidFill>
                <a:latin typeface="맑은 고딕"/>
                <a:ea typeface="맑은 고딕"/>
              </a:rPr>
              <a:t>최신 값으로 갱신합니다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194560"/>
            <a:ext cx="274320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35440" y="219456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331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마이페이지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2004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F6B72"/>
                </a:solidFill>
                <a:latin typeface="맑은 고딕"/>
                <a:ea typeface="맑은 고딕"/>
              </a:rPr>
              <a:t>걸음수 메뉴에서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F6B72"/>
                </a:solidFill>
                <a:latin typeface="맑은 고딕"/>
                <a:ea typeface="맑은 고딕"/>
              </a:rPr>
              <a:t>이력을 확인할 수 있어요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CAMA Plus · 의사 선생님을 위한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8/20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011680" cy="347472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D7A6F"/>
                </a:solidFill>
                <a:latin typeface="맑은 고딕"/>
                <a:ea typeface="맑은 고딕"/>
              </a:rPr>
              <a:t>CAMA 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C353A"/>
                </a:solidFill>
                <a:latin typeface="맑은 고딕"/>
                <a:ea typeface="맑은 고딕"/>
              </a:rPr>
              <a:t>심박 등 바이탈은 이렇게 이해해 주세요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72"/>
                </a:solidFill>
                <a:latin typeface="맑은 고딕"/>
                <a:ea typeface="맑은 고딕"/>
              </a:rPr>
              <a:t>걸음과 같은 ‘건강 데이터’ 축입니다.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5486400" cy="3657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C353A"/>
                </a:solidFill>
                <a:latin typeface="맑은 고딕"/>
                <a:ea typeface="맑은 고딕"/>
              </a:rPr>
              <a:t>포함되는 개념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B72"/>
                </a:solidFill>
                <a:latin typeface="맑은 고딕"/>
                <a:ea typeface="맑은 고딕"/>
              </a:rPr>
              <a:t>•  심박수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B72"/>
                </a:solidFill>
                <a:latin typeface="맑은 고딕"/>
                <a:ea typeface="맑은 고딕"/>
              </a:rPr>
              <a:t>•  혈압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B72"/>
                </a:solidFill>
                <a:latin typeface="맑은 고딕"/>
                <a:ea typeface="맑은 고딕"/>
              </a:rPr>
              <a:t>•  산소포화도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B72"/>
                </a:solidFill>
                <a:latin typeface="맑은 고딕"/>
                <a:ea typeface="맑은 고딕"/>
              </a:rPr>
              <a:t>•  체온 · 호흡 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B72"/>
                </a:solidFill>
                <a:latin typeface="맑은 고딕"/>
                <a:ea typeface="맑은 고딕"/>
              </a:rPr>
              <a:t>•  서버에 이력으로 쌓이고, 태블릿 차트와도 연결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103120"/>
            <a:ext cx="5394960" cy="3657600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5603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D7A6F"/>
                </a:solidFill>
                <a:latin typeface="맑은 고딕"/>
                <a:ea typeface="맑은 고딕"/>
              </a:rPr>
              <a:t>진료실에서의 의미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7A6F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7A6F"/>
                </a:solidFill>
                <a:latin typeface="맑은 고딕"/>
                <a:ea typeface="맑은 고딕"/>
              </a:rPr>
              <a:t>환자가 평소에 움직인 양과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7A6F"/>
                </a:solidFill>
                <a:latin typeface="맑은 고딕"/>
                <a:ea typeface="맑은 고딕"/>
              </a:rPr>
              <a:t>건강 기록이 태블릿에 모이면,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7A6F"/>
                </a:solidFill>
                <a:latin typeface="맑은 고딕"/>
                <a:ea typeface="맑은 고딕"/>
              </a:rPr>
              <a:t>짧은 진료 시간에도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7A6F"/>
                </a:solidFill>
                <a:latin typeface="맑은 고딕"/>
                <a:ea typeface="맑은 고딕"/>
              </a:rPr>
              <a:t>‘최근 상태’를 빠르게 파악하실 수 있어요.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CAMA Plus · 의사 선생님을 위한 안내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9/20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457200"/>
            <a:ext cx="3657600" cy="3657600"/>
          </a:xfrm>
          <a:prstGeom prst="ellipse">
            <a:avLst/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20040"/>
            <a:ext cx="2011680" cy="347472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D7A6F"/>
                </a:solidFill>
                <a:latin typeface="맑은 고딕"/>
                <a:ea typeface="맑은 고딕"/>
              </a:rPr>
              <a:t>세 번째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C353A"/>
                </a:solidFill>
                <a:latin typeface="맑은 고딕"/>
                <a:ea typeface="맑은 고딕"/>
              </a:rPr>
              <a:t>03  의사 문의 작성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F6B72"/>
                </a:solidFill>
                <a:latin typeface="맑은 고딕"/>
                <a:ea typeface="맑은 고딕"/>
              </a:rPr>
              <a:t>진찰 전에 환자가 질문을 미리 남겨 둡니다.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5F6B72"/>
                </a:solidFill>
                <a:latin typeface="맑은 고딕"/>
                <a:ea typeface="맑은 고딕"/>
              </a:rPr>
              <a:t>타이핑도 되고, 말로 말해도 글자로 들어갑니다.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CAMA Plus · 의사 선생님을 위한 안내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10/20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011680" cy="347472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D7A6F"/>
                </a:solidFill>
                <a:latin typeface="맑은 고딕"/>
                <a:ea typeface="맑은 고딕"/>
              </a:rPr>
              <a:t>CAMA 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C353A"/>
                </a:solidFill>
                <a:latin typeface="맑은 고딕"/>
                <a:ea typeface="맑은 고딕"/>
              </a:rPr>
              <a:t>「진찰시 문의사항」은 이런 기능이에요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72"/>
                </a:solidFill>
                <a:latin typeface="맑은 고딕"/>
                <a:ea typeface="맑은 고딕"/>
              </a:rPr>
              <a:t>마이페이지에서 환자가 직접 작성합니다.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54864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109728" cy="38404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C353A"/>
                </a:solidFill>
                <a:latin typeface="맑은 고딕"/>
                <a:ea typeface="맑은 고딕"/>
              </a:rPr>
              <a:t>무엇을 할 수 있나요?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50749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• 문의 작성 · 수정 · 삭제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• 제목과 본문을 남겨 둡니다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• 진료 전에 ‘물어볼 말’을 정리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• 나중에 태블릿으로 전달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환자가 말로 준비한 질문이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진료실에서 바로 보입니다.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011680"/>
            <a:ext cx="5394960" cy="3840480"/>
          </a:xfrm>
          <a:prstGeom prst="roundRect">
            <a:avLst>
              <a:gd name="adj" fmla="val 10000"/>
            </a:avLst>
          </a:prstGeom>
          <a:solidFill>
            <a:srgbClr val="F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C353A"/>
                </a:solidFill>
                <a:latin typeface="맑은 고딕"/>
                <a:ea typeface="맑은 고딕"/>
              </a:rPr>
              <a:t>입력 방식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926080"/>
            <a:ext cx="475488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310896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B72"/>
                </a:solidFill>
                <a:latin typeface="맑은 고딕"/>
                <a:ea typeface="맑은 고딕"/>
              </a:rPr>
              <a:t>키보드로 입력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B72"/>
                </a:solidFill>
                <a:latin typeface="맑은 고딕"/>
                <a:ea typeface="맑은 고딕"/>
              </a:rPr>
              <a:t>평소처럼 글자를 적습니다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4297680"/>
            <a:ext cx="47548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448056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B72"/>
                </a:solidFill>
                <a:latin typeface="맑은 고딕"/>
                <a:ea typeface="맑은 고딕"/>
              </a:rPr>
              <a:t>말로 입력 (마이크)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B72"/>
                </a:solidFill>
                <a:latin typeface="맑은 고딕"/>
                <a:ea typeface="맑은 고딕"/>
              </a:rPr>
              <a:t>말하면 → 한국어로 글자가 붙습니다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CAMA Plus · 의사 선생님을 위한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11/20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011680" cy="347472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D7A6F"/>
                </a:solidFill>
                <a:latin typeface="맑은 고딕"/>
                <a:ea typeface="맑은 고딕"/>
              </a:rPr>
              <a:t>CAMA 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C353A"/>
                </a:solidFill>
                <a:latin typeface="맑은 고딕"/>
                <a:ea typeface="맑은 고딕"/>
              </a:rPr>
              <a:t>말로 입력해도, 결국 ‘텍스트’로 남아요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72"/>
                </a:solidFill>
                <a:latin typeface="맑은 고딕"/>
                <a:ea typeface="맑은 고딕"/>
              </a:rPr>
              <a:t>음성 파일을 따로 저장하는 방식이 아닙니다.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194560"/>
            <a:ext cx="9418320" cy="3474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48840" y="2560320"/>
            <a:ext cx="822960" cy="822960"/>
          </a:xfrm>
          <a:prstGeom prst="ellipse">
            <a:avLst/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27432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D7A6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566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C353A"/>
                </a:solidFill>
                <a:latin typeface="맑은 고딕"/>
                <a:ea typeface="맑은 고딕"/>
              </a:rPr>
              <a:t>말하기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0233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환자가 마이크에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증상을 말해요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39" y="2743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76F5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4434840" y="2560320"/>
            <a:ext cx="822960" cy="822960"/>
          </a:xfrm>
          <a:prstGeom prst="ellipse">
            <a:avLst/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7432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D7A6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566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C353A"/>
                </a:solidFill>
                <a:latin typeface="맑은 고딕"/>
                <a:ea typeface="맑은 고딕"/>
              </a:rPr>
              <a:t>글자로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233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앱이 한국어로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인식해 붙여 줘요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39" y="2743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76F5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6720840" y="2560320"/>
            <a:ext cx="822960" cy="822960"/>
          </a:xfrm>
          <a:prstGeom prst="ellipse">
            <a:avLst/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7432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D7A6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566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C353A"/>
                </a:solidFill>
                <a:latin typeface="맑은 고딕"/>
                <a:ea typeface="맑은 고딕"/>
              </a:rPr>
              <a:t>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0233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문의 본문으로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서버에 남아요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39" y="2743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76F51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9006840" y="2560320"/>
            <a:ext cx="822960" cy="822960"/>
          </a:xfrm>
          <a:prstGeom prst="ellipse">
            <a:avLst/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27432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D7A6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566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C353A"/>
                </a:solidFill>
                <a:latin typeface="맑은 고딕"/>
                <a:ea typeface="맑은 고딕"/>
              </a:rPr>
              <a:t>의사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0233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태블릿에서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읽기 쉬운 글자로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CAMA Plus · 의사 선생님을 위한 안내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12/20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F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20040"/>
            <a:ext cx="2011680" cy="347472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D7A6F"/>
                </a:solidFill>
                <a:latin typeface="맑은 고딕"/>
                <a:ea typeface="맑은 고딕"/>
              </a:rPr>
              <a:t>네 번째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C353A"/>
                </a:solidFill>
                <a:latin typeface="맑은 고딕"/>
                <a:ea typeface="맑은 고딕"/>
              </a:rPr>
              <a:t>04  의사 태블릿 연동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F6B72"/>
                </a:solidFill>
                <a:latin typeface="맑은 고딕"/>
                <a:ea typeface="맑은 고딕"/>
              </a:rPr>
              <a:t>환자 스마트폰에서 의사 태블릿으로, 바로 자료를 넘깁니다.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5F6B72"/>
                </a:solidFill>
                <a:latin typeface="맑은 고딕"/>
                <a:ea typeface="맑은 고딕"/>
              </a:rPr>
              <a:t>QR을 스캔하고 보내면, 건강 데이터와 문의가 화면에 나타납니다.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CAMA Plus · 의사 선생님을 위한 안내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13/20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011680" cy="347472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D7A6F"/>
                </a:solidFill>
                <a:latin typeface="맑은 고딕"/>
                <a:ea typeface="맑은 고딕"/>
              </a:rPr>
              <a:t>CAMA 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C353A"/>
                </a:solidFill>
                <a:latin typeface="맑은 고딕"/>
                <a:ea typeface="맑은 고딕"/>
              </a:rPr>
              <a:t>진료실에서의 짧은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72"/>
                </a:solidFill>
                <a:latin typeface="맑은 고딕"/>
                <a:ea typeface="맑은 고딕"/>
              </a:rPr>
              <a:t>복잡한 설정 없이, 이렇게만 하시면 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94560"/>
            <a:ext cx="2194560" cy="3474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2194560"/>
            <a:ext cx="2194560" cy="82296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06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태블릿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918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F6B72"/>
                </a:solidFill>
                <a:latin typeface="맑은 고딕"/>
                <a:ea typeface="맑은 고딕"/>
              </a:rPr>
              <a:t>QR 대기 화면을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F6B72"/>
                </a:solidFill>
                <a:latin typeface="맑은 고딕"/>
                <a:ea typeface="맑은 고딕"/>
              </a:rPr>
              <a:t>띄워 둡니다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2194560"/>
            <a:ext cx="2194560" cy="3474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97480" y="2194560"/>
            <a:ext cx="2194560" cy="82296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2286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606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환자 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2918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F6B72"/>
                </a:solidFill>
                <a:latin typeface="맑은 고딕"/>
                <a:ea typeface="맑은 고딕"/>
              </a:rPr>
              <a:t>「의사앱 자료전송」에서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F6B72"/>
                </a:solidFill>
                <a:latin typeface="맑은 고딕"/>
                <a:ea typeface="맑은 고딕"/>
              </a:rPr>
              <a:t>QR을 스캔합니다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2194560"/>
            <a:ext cx="2194560" cy="3474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0" y="2194560"/>
            <a:ext cx="2194560" cy="82296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2286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606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미리보기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32918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F6B72"/>
                </a:solidFill>
                <a:latin typeface="맑은 고딕"/>
                <a:ea typeface="맑은 고딕"/>
              </a:rPr>
              <a:t>보낼 걸음·문의를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F6B72"/>
                </a:solidFill>
                <a:latin typeface="맑은 고딕"/>
                <a:ea typeface="맑은 고딕"/>
              </a:rPr>
              <a:t>확인합니다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19" y="2194560"/>
            <a:ext cx="2194560" cy="3474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60919" y="2194560"/>
            <a:ext cx="2194560" cy="82296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19" y="2286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19" y="2606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전송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2918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F6B72"/>
                </a:solidFill>
                <a:latin typeface="맑은 고딕"/>
                <a:ea typeface="맑은 고딕"/>
              </a:rPr>
              <a:t>태블릿으로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F6B72"/>
                </a:solidFill>
                <a:latin typeface="맑은 고딕"/>
                <a:ea typeface="맑은 고딕"/>
              </a:rPr>
              <a:t>자료를 보냅니다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2640" y="2194560"/>
            <a:ext cx="2194560" cy="3474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92640" y="2194560"/>
            <a:ext cx="2194560" cy="822960"/>
          </a:xfrm>
          <a:prstGeom prst="roundRect">
            <a:avLst>
              <a:gd name="adj" fmla="val 1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2286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606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확인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32918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F6B72"/>
                </a:solidFill>
                <a:latin typeface="맑은 고딕"/>
                <a:ea typeface="맑은 고딕"/>
              </a:rPr>
              <a:t>건강·문의 탭에서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F6B72"/>
                </a:solidFill>
                <a:latin typeface="맑은 고딕"/>
                <a:ea typeface="맑은 고딕"/>
              </a:rPr>
              <a:t>내용을 봅니다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CAMA Plus · 의사 선생님을 위한 안내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14/20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011680" cy="347472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D7A6F"/>
                </a:solidFill>
                <a:latin typeface="맑은 고딕"/>
                <a:ea typeface="맑은 고딕"/>
              </a:rPr>
              <a:t>CAMA 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C353A"/>
                </a:solidFill>
                <a:latin typeface="맑은 고딕"/>
                <a:ea typeface="맑은 고딕"/>
              </a:rPr>
              <a:t>태블릿에서 이렇게 보입니다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72"/>
                </a:solidFill>
                <a:latin typeface="맑은 고딕"/>
                <a:ea typeface="맑은 고딕"/>
              </a:rPr>
              <a:t>두 개의 탭으로 나눠 두었어요.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5486400" cy="37490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5486400" cy="73152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건강 데이터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72"/>
                </a:solidFill>
                <a:latin typeface="맑은 고딕"/>
                <a:ea typeface="맑은 고딕"/>
              </a:rPr>
              <a:t>•  환자 이름 · 기본 정보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72"/>
                </a:solidFill>
                <a:latin typeface="맑은 고딕"/>
                <a:ea typeface="맑은 고딕"/>
              </a:rPr>
              <a:t>•  걸음수와 최근 이력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72"/>
                </a:solidFill>
                <a:latin typeface="맑은 고딕"/>
                <a:ea typeface="맑은 고딕"/>
              </a:rPr>
              <a:t>•  심박 등 바이탈 차트 영역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091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72"/>
                </a:solidFill>
                <a:latin typeface="맑은 고딕"/>
                <a:ea typeface="맑은 고딕"/>
              </a:rPr>
              <a:t>•  짧은 시간에 ‘최근 활동’을 파악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103120"/>
            <a:ext cx="5394960" cy="37490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2103120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문의사항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200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72"/>
                </a:solidFill>
                <a:latin typeface="맑은 고딕"/>
                <a:ea typeface="맑은 고딕"/>
              </a:rPr>
              <a:t>•  환자가 미리 남긴 질문 목록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703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72"/>
                </a:solidFill>
                <a:latin typeface="맑은 고딕"/>
                <a:ea typeface="맑은 고딕"/>
              </a:rPr>
              <a:t>•  제목 · 본문 상세 보기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206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72"/>
                </a:solidFill>
                <a:latin typeface="맑은 고딕"/>
                <a:ea typeface="맑은 고딕"/>
              </a:rPr>
              <a:t>•  말로 작성한 내용도 텍스트로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7091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72"/>
                </a:solidFill>
                <a:latin typeface="맑은 고딕"/>
                <a:ea typeface="맑은 고딕"/>
              </a:rPr>
              <a:t>•  문진 전에 ‘오늘 궁금한 점’ 확인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CAMA Plus · 의사 선생님을 위한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15/20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200400"/>
            <a:ext cx="4572000" cy="4572000"/>
          </a:xfrm>
          <a:prstGeom prst="ellipse">
            <a:avLst/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20040"/>
            <a:ext cx="2011680" cy="347472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D7A6F"/>
                </a:solidFill>
                <a:latin typeface="맑은 고딕"/>
                <a:ea typeface="맑은 고딕"/>
              </a:rPr>
              <a:t>다섯 번째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C353A"/>
                </a:solidFill>
                <a:latin typeface="맑은 고딕"/>
                <a:ea typeface="맑은 고딕"/>
              </a:rPr>
              <a:t>05  환자 관리앱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F6B72"/>
                </a:solidFill>
                <a:latin typeface="맑은 고딕"/>
                <a:ea typeface="맑은 고딕"/>
              </a:rPr>
              <a:t>진료 태블릿과 별도로, 병원·관리 웹에서 환자를 살펴보는 기능입니다.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5F6B72"/>
                </a:solidFill>
                <a:latin typeface="맑은 고딕"/>
                <a:ea typeface="맑은 고딕"/>
              </a:rPr>
              <a:t>운영·모니터링이 필요할 때 쓰시는 화면이에요.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CAMA Plus · 의사 선생님을 위한 안내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16/20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011680" cy="347472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D7A6F"/>
                </a:solidFill>
                <a:latin typeface="맑은 고딕"/>
                <a:ea typeface="맑은 고딕"/>
              </a:rPr>
              <a:t>CAMA 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C353A"/>
                </a:solidFill>
                <a:latin typeface="맑은 고딕"/>
                <a:ea typeface="맑은 고딕"/>
              </a:rPr>
              <a:t>관리자 · 의사 웹에 담긴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72"/>
                </a:solidFill>
                <a:latin typeface="맑은 고딕"/>
                <a:ea typeface="맑은 고딕"/>
              </a:rPr>
              <a:t>역할에 따라 보시면 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548640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5486400" cy="59436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슈퍼 관리자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환자 모니터링  —  환자 목록 · 유형 · 상세 연계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코칭 모니터링  —  환자별 코칭 진행 현황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862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월평가 지표  —  월별 지표 조회 · 엑셀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3483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APK 관리  —  환자 앱 버전 업로드 · 배포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834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치료정보 사용현황  —  치료정보 사용 현황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965960"/>
            <a:ext cx="539496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1965960"/>
            <a:ext cx="5394960" cy="594360"/>
          </a:xfrm>
          <a:prstGeom prst="roundRect">
            <a:avLst>
              <a:gd name="adj" fmla="val 1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1031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의사 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7889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환자 관리  —  병원 환자 목록 · 모니터링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3832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서비스 신청  —  신청 목록 · 승인 · 반려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9776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연동 안정화  —  화면과 서버 호출이 더 안정적으로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1663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2"/>
                </a:solidFill>
                <a:latin typeface="맑은 고딕"/>
                <a:ea typeface="맑은 고딕"/>
              </a:rPr>
              <a:t>포인트  —  현장 문의는 태블릿, 운영은 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CAMA Plus · 의사 선생님을 위한 안내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17/20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011680" cy="347472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D7A6F"/>
                </a:solidFill>
                <a:latin typeface="맑은 고딕"/>
                <a:ea typeface="맑은 고딕"/>
              </a:rPr>
              <a:t>CAMA 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C353A"/>
                </a:solidFill>
                <a:latin typeface="맑은 고딕"/>
                <a:ea typeface="맑은 고딕"/>
              </a:rPr>
              <a:t>누가 무엇을 볼까요?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72"/>
                </a:solidFill>
                <a:latin typeface="맑은 고딕"/>
                <a:ea typeface="맑은 고딕"/>
              </a:rPr>
              <a:t>헷갈리지 않게, 역할만 정리했습니다.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274320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환자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F6B72"/>
                </a:solidFill>
                <a:latin typeface="맑은 고딕"/>
                <a:ea typeface="맑은 고딕"/>
              </a:rPr>
              <a:t>계정 · 걸음 · 문의 작성 · 자료 전송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286000"/>
            <a:ext cx="274320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80" y="22860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514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의사 (태블릿)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5661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F6B72"/>
                </a:solidFill>
                <a:latin typeface="맑은 고딕"/>
                <a:ea typeface="맑은 고딕"/>
              </a:rPr>
              <a:t>진료 직전 건강 데이터 · 문의사항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286000"/>
            <a:ext cx="274320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22860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514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의사 (웹)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5661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F6B72"/>
                </a:solidFill>
                <a:latin typeface="맑은 고딕"/>
                <a:ea typeface="맑은 고딕"/>
              </a:rPr>
              <a:t>환자 목록 · 서비스 신청 처리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286000"/>
            <a:ext cx="274320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35440" y="22860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514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관리자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5661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F6B72"/>
                </a:solidFill>
                <a:latin typeface="맑은 고딕"/>
                <a:ea typeface="맑은 고딕"/>
              </a:rPr>
              <a:t>모니터링 · APK · 지표 · 운영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CAMA Plus · 의사 선생님을 위한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18/20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011680" cy="347472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D7A6F"/>
                </a:solidFill>
                <a:latin typeface="맑은 고딕"/>
                <a:ea typeface="맑은 고딕"/>
              </a:rPr>
              <a:t>CAMA 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C353A"/>
                </a:solidFill>
                <a:latin typeface="맑은 고딕"/>
                <a:ea typeface="맑은 고딕"/>
              </a:rPr>
              <a:t>한 장으로 다시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72"/>
                </a:solidFill>
                <a:latin typeface="맑은 고딕"/>
                <a:ea typeface="맑은 고딕"/>
              </a:rPr>
              <a:t>오늘 말씀드린 핵심만 모았습니다.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111556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130552"/>
            <a:ext cx="640080" cy="384048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671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D7A6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1671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C353A"/>
                </a:solidFill>
                <a:latin typeface="맑은 고딕"/>
                <a:ea typeface="맑은 고딕"/>
              </a:rPr>
              <a:t>계정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167128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B72"/>
                </a:solidFill>
                <a:latin typeface="맑은 고딕"/>
                <a:ea typeface="맑은 고딕"/>
              </a:rPr>
              <a:t>환자가 스스로 찾고, 바꾸고, 이메일도 등록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88920"/>
            <a:ext cx="111556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953512"/>
            <a:ext cx="640080" cy="384048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90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D7A6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9900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C353A"/>
                </a:solidFill>
                <a:latin typeface="맑은 고딕"/>
                <a:ea typeface="맑은 고딕"/>
              </a:rPr>
              <a:t>생체정보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990088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B72"/>
                </a:solidFill>
                <a:latin typeface="맑은 고딕"/>
                <a:ea typeface="맑은 고딕"/>
              </a:rPr>
              <a:t>걸음이 자동으로 쌓이고, 바이탈로 확장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11880"/>
            <a:ext cx="111556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776472"/>
            <a:ext cx="640080" cy="384048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1304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D7A6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8130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C353A"/>
                </a:solidFill>
                <a:latin typeface="맑은 고딕"/>
                <a:ea typeface="맑은 고딕"/>
              </a:rPr>
              <a:t>문의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813048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B72"/>
                </a:solidFill>
                <a:latin typeface="맑은 고딕"/>
                <a:ea typeface="맑은 고딕"/>
              </a:rPr>
              <a:t>키보드 + 말로 진료 전 질문 준비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34840"/>
            <a:ext cx="111556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4599432"/>
            <a:ext cx="640080" cy="384048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63600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D7A6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636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C353A"/>
                </a:solidFill>
                <a:latin typeface="맑은 고딕"/>
                <a:ea typeface="맑은 고딕"/>
              </a:rPr>
              <a:t>태블릿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636008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B72"/>
                </a:solidFill>
                <a:latin typeface="맑은 고딕"/>
                <a:ea typeface="맑은 고딕"/>
              </a:rPr>
              <a:t>QR로 보내면 건강·문의가 바로 표시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257800"/>
            <a:ext cx="111556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1520" y="5422392"/>
            <a:ext cx="640080" cy="384048"/>
          </a:xfrm>
          <a:prstGeom prst="roundRect">
            <a:avLst>
              <a:gd name="adj" fmla="val 10000"/>
            </a:avLst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4589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D7A6F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4589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C353A"/>
                </a:solidFill>
                <a:latin typeface="맑은 고딕"/>
                <a:ea typeface="맑은 고딕"/>
              </a:rPr>
              <a:t>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5458968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F6B72"/>
                </a:solidFill>
                <a:latin typeface="맑은 고딕"/>
                <a:ea typeface="맑은 고딕"/>
              </a:rPr>
              <a:t>웹에서 환자·서비스·앱을 운영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CAMA Plus · 의사 선생님을 위한 안내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72"/>
                </a:solidFill>
                <a:latin typeface="맑은 고딕"/>
                <a:ea typeface="맑은 고딕"/>
              </a:rPr>
              <a:t>19/20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D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4114800" cy="4114800"/>
          </a:xfrm>
          <a:prstGeom prst="ellipse">
            <a:avLst/>
          </a:prstGeom>
          <a:solidFill>
            <a:srgbClr val="F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45920" y="1645920"/>
            <a:ext cx="8869680" cy="3657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011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2C353A"/>
                </a:solidFill>
                <a:latin typeface="맑은 고딕"/>
                <a:ea typeface="맑은 고딕"/>
              </a:rPr>
              <a:t>감사합니다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834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5F6B72"/>
                </a:solidFill>
                <a:latin typeface="맑은 고딕"/>
                <a:ea typeface="맑은 고딕"/>
              </a:rPr>
              <a:t>환자가 미리 준비하고,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5F6B72"/>
                </a:solidFill>
                <a:latin typeface="맑은 고딕"/>
                <a:ea typeface="맑은 고딕"/>
              </a:rPr>
              <a:t>선생님께서는 진료 전에 가볍게 확인하시면 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114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D7A6F"/>
                </a:solidFill>
                <a:latin typeface="맑은 고딕"/>
                <a:ea typeface="맑은 고딕"/>
              </a:rPr>
              <a:t>궁금하신 점 있으시면 편하게 말씀해 주세요.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